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6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FFFFFF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FFFFFF"/>
                </a:solidFill>
                <a:latin typeface="+mn-lt"/>
              </a:rPr>
              <a:t>Images per split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Train</c:v>
                </c:pt>
              </c:strCache>
            </c:strRef>
          </c:tx>
          <c:spPr>
            <a:solidFill>
              <a:srgbClr val="38BDF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Spiral</c:v>
                  </c:pt>
                  <c:pt idx="1">
                    <c:v>Wave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59</c:v>
                </c:pt>
                <c:pt idx="1">
                  <c:v>58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Validation</c:v>
                </c:pt>
              </c:strCache>
            </c:strRef>
          </c:tx>
          <c:spPr>
            <a:solidFill>
              <a:srgbClr val="818CF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Spiral</c:v>
                  </c:pt>
                  <c:pt idx="1">
                    <c:v>Wave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14</c:v>
                </c:pt>
                <c:pt idx="1">
                  <c:v>14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Test</c:v>
                </c:pt>
              </c:strCache>
            </c:strRef>
          </c:tx>
          <c:spPr>
            <a:solidFill>
              <a:srgbClr val="22D3E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Spiral</c:v>
                  </c:pt>
                  <c:pt idx="1">
                    <c:v>Wave</c:v>
                  </c:pt>
                </c:lvl>
              </c:multiLvlStrCache>
            </c:multiLvl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30</c:v>
                </c:pt>
                <c:pt idx="1">
                  <c:v>30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FFFFFF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FD4F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E4F9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BFD4FF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FFFFFF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38BDF8"/>
              </a:solidFill>
              <a:ln w="9525" cap="flat">
                <a:solidFill>
                  <a:srgbClr val="12295C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24407F"/>
              </a:solidFill>
              <a:ln w="9525" cap="flat">
                <a:solidFill>
                  <a:srgbClr val="12295C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Correct</c:v>
                </c:pt>
                <c:pt idx="1">
                  <c:v>Incorrect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76.7</c:v>
                </c:pt>
                <c:pt idx="1">
                  <c:v>23.3</c:v>
                </c:pt>
              </c:numCache>
            </c:numRef>
          </c:val>
        </c:ser>
        <c:firstSliceAng val="0"/>
        <c:holeSize val="72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Healthy</c:v>
                </c:pt>
              </c:strCache>
            </c:strRef>
          </c:tx>
          <c:spPr>
            <a:solidFill>
              <a:srgbClr val="38BDF8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Precision</c:v>
                  </c:pt>
                  <c:pt idx="1">
                    <c:v>Recall</c:v>
                  </c:pt>
                  <c:pt idx="2">
                    <c:v>F1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0.7</c:v>
                </c:pt>
                <c:pt idx="1">
                  <c:v>0.93</c:v>
                </c:pt>
                <c:pt idx="2">
                  <c:v>0.8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Parkinson</c:v>
                </c:pt>
              </c:strCache>
            </c:strRef>
          </c:tx>
          <c:spPr>
            <a:solidFill>
              <a:srgbClr val="818CF8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Precision</c:v>
                  </c:pt>
                  <c:pt idx="1">
                    <c:v>Recall</c:v>
                  </c:pt>
                  <c:pt idx="2">
                    <c:v>F1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0.9</c:v>
                </c:pt>
                <c:pt idx="1">
                  <c:v>0.6</c:v>
                </c:pt>
                <c:pt idx="2">
                  <c:v>0.72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BFD4F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1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FD4FF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FFFFFF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34D399"/>
              </a:solidFill>
              <a:ln w="9525" cap="flat">
                <a:solidFill>
                  <a:srgbClr val="12295C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24407F"/>
              </a:solidFill>
              <a:ln w="9525" cap="flat">
                <a:solidFill>
                  <a:srgbClr val="12295C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Correct</c:v>
                </c:pt>
                <c:pt idx="1">
                  <c:v>Incorrect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90</c:v>
                </c:pt>
                <c:pt idx="1">
                  <c:v>10</c:v>
                </c:pt>
              </c:numCache>
            </c:numRef>
          </c:val>
        </c:ser>
        <c:firstSliceAng val="0"/>
        <c:holeSize val="72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Healthy</c:v>
                </c:pt>
              </c:strCache>
            </c:strRef>
          </c:tx>
          <c:spPr>
            <a:solidFill>
              <a:srgbClr val="38BDF8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Precision</c:v>
                  </c:pt>
                  <c:pt idx="1">
                    <c:v>Recall</c:v>
                  </c:pt>
                  <c:pt idx="2">
                    <c:v>F1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0.88</c:v>
                </c:pt>
                <c:pt idx="1">
                  <c:v>0.93</c:v>
                </c:pt>
                <c:pt idx="2">
                  <c:v>0.9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Parkinson</c:v>
                </c:pt>
              </c:strCache>
            </c:strRef>
          </c:tx>
          <c:spPr>
            <a:solidFill>
              <a:srgbClr val="818CF8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Precision</c:v>
                  </c:pt>
                  <c:pt idx="1">
                    <c:v>Recall</c:v>
                  </c:pt>
                  <c:pt idx="2">
                    <c:v>F1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0.93</c:v>
                </c:pt>
                <c:pt idx="1">
                  <c:v>0.87</c:v>
                </c:pt>
                <c:pt idx="2">
                  <c:v>0.9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BFD4F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1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FD4FF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FFFFFF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FFFFFF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FFFFFF"/>
                </a:solidFill>
                <a:latin typeface="+mn-lt"/>
              </a:rPr>
              <a:t>Test accuracy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 accuracy (%)</c:v>
                </c:pt>
              </c:strCache>
            </c:strRef>
          </c:tx>
          <c:spPr>
            <a:solidFill>
              <a:srgbClr val="38BDF8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1" i="0" strike="noStrike" sz="14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38BDF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34D399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818CF8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Spiral</c:v>
                  </c:pt>
                  <c:pt idx="1">
                    <c:v>Wave</c:v>
                  </c:pt>
                  <c:pt idx="2">
                    <c:v>Ensemble (avg)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76.7</c:v>
                </c:pt>
                <c:pt idx="1">
                  <c:v>90</c:v>
                </c:pt>
                <c:pt idx="2">
                  <c:v>86.7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1" i="0" strike="noStrike" sz="1400" u="none">
                  <a:solidFill>
                    <a:srgbClr val="FFFFFF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FD4F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2E4F9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BFD4FF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TITLE-image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CONTENT-image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END-image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B0F0"/>
                </a:solidFill>
              </a:rPr>
              <a:t>TEAM MAX EFFORT  |  Parkinson’s Disease Detection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896112"/>
            <a:ext cx="822960" cy="457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FB0F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FB0F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chart" Target="/ppt/charts/chart5.xm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lowing spiral draw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2080" y="502920"/>
            <a:ext cx="3840480" cy="384048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40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8BDF8"/>
                </a:solidFill>
              </a:rPr>
              <a:t>HACKATHON PROJECT  •  AI FOR HEALTHCARE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005840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Parkinson’s Disease Detection</a:t>
            </a:r>
            <a:endParaRPr lang="en-US" sz="3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4231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D3EE"/>
                </a:solidFill>
              </a:rPr>
              <a:t>Dual-Stream EfficientNetB0 Model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788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FD4FF"/>
                </a:solidFill>
              </a:rPr>
              <a:t>Spiral + Wave hand-drawing analysis with deep transfer learning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5204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8FB0F0"/>
                </a:solidFill>
              </a:rPr>
              <a:t>TECH STACK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48640" y="3813048"/>
            <a:ext cx="731520" cy="301752"/>
          </a:xfrm>
          <a:prstGeom prst="roundRect">
            <a:avLst>
              <a:gd name="adj" fmla="val 48485"/>
            </a:avLst>
          </a:prstGeom>
          <a:solidFill>
            <a:srgbClr val="12295C">
              <a:alpha val="90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48640" y="3813048"/>
            <a:ext cx="731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Python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1389888" y="3813048"/>
            <a:ext cx="1371600" cy="301752"/>
          </a:xfrm>
          <a:prstGeom prst="roundRect">
            <a:avLst>
              <a:gd name="adj" fmla="val 48485"/>
            </a:avLst>
          </a:prstGeom>
          <a:solidFill>
            <a:srgbClr val="12295C">
              <a:alpha val="90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389888" y="3813048"/>
            <a:ext cx="1371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TensorFlow / Keras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871216" y="3813048"/>
            <a:ext cx="1234440" cy="301752"/>
          </a:xfrm>
          <a:prstGeom prst="roundRect">
            <a:avLst>
              <a:gd name="adj" fmla="val 48485"/>
            </a:avLst>
          </a:prstGeom>
          <a:solidFill>
            <a:srgbClr val="12295C">
              <a:alpha val="90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2871216" y="3813048"/>
            <a:ext cx="1234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EfficientNetB0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215384" y="3813048"/>
            <a:ext cx="1051560" cy="301752"/>
          </a:xfrm>
          <a:prstGeom prst="roundRect">
            <a:avLst>
              <a:gd name="adj" fmla="val 48485"/>
            </a:avLst>
          </a:prstGeom>
          <a:solidFill>
            <a:srgbClr val="12295C">
              <a:alpha val="90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215384" y="3813048"/>
            <a:ext cx="1051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scikit-learn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376672" y="3813048"/>
            <a:ext cx="731520" cy="301752"/>
          </a:xfrm>
          <a:prstGeom prst="roundRect">
            <a:avLst>
              <a:gd name="adj" fmla="val 48485"/>
            </a:avLst>
          </a:prstGeom>
          <a:solidFill>
            <a:srgbClr val="12295C">
              <a:alpha val="90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376672" y="3813048"/>
            <a:ext cx="731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NumPy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6217920" y="3813048"/>
            <a:ext cx="960120" cy="301752"/>
          </a:xfrm>
          <a:prstGeom prst="roundRect">
            <a:avLst>
              <a:gd name="adj" fmla="val 48485"/>
            </a:avLst>
          </a:prstGeom>
          <a:solidFill>
            <a:srgbClr val="12295C">
              <a:alpha val="90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217920" y="3813048"/>
            <a:ext cx="960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Matplotlib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7287768" y="3813048"/>
            <a:ext cx="1051560" cy="301752"/>
          </a:xfrm>
          <a:prstGeom prst="roundRect">
            <a:avLst>
              <a:gd name="adj" fmla="val 48485"/>
            </a:avLst>
          </a:prstGeom>
          <a:solidFill>
            <a:srgbClr val="12295C">
              <a:alpha val="90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287768" y="3813048"/>
            <a:ext cx="1051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Google Colab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Early Detection Matters</a:t>
            </a:r>
            <a:endParaRPr lang="en-US" sz="2800" dirty="0"/>
          </a:p>
        </p:txBody>
      </p:sp>
      <p:sp>
        <p:nvSpPr>
          <p:cNvPr id="3" name="Card"/>
          <p:cNvSpPr/>
          <p:nvPr/>
        </p:nvSpPr>
        <p:spPr>
          <a:xfrm>
            <a:off x="457200" y="1188720"/>
            <a:ext cx="4663440" cy="1024128"/>
          </a:xfrm>
          <a:prstGeom prst="roundRect">
            <a:avLst>
              <a:gd name="adj" fmla="val 10714"/>
            </a:avLst>
          </a:prstGeom>
          <a:solidFill>
            <a:srgbClr val="12295C">
              <a:alpha val="75000"/>
            </a:srgbClr>
          </a:solidFill>
          <a:ln w="12700">
            <a:solidFill>
              <a:srgbClr val="2E4F9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371600"/>
            <a:ext cx="658368" cy="658368"/>
          </a:xfrm>
          <a:prstGeom prst="ellipse">
            <a:avLst/>
          </a:prstGeom>
          <a:solidFill>
            <a:srgbClr val="38BDF8">
              <a:alpha val="30000"/>
            </a:srgbClr>
          </a:solidFill>
          <a:ln w="19050">
            <a:solidFill>
              <a:srgbClr val="38BDF8"/>
            </a:solidFill>
            <a:prstDash val="solid"/>
          </a:ln>
        </p:spPr>
      </p:sp>
      <p:pic>
        <p:nvPicPr>
          <p:cNvPr id="5" name="Image 0" descr="FaBrai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1256" y="1542776"/>
            <a:ext cx="316017" cy="31601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63040" y="129844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 progressive neurological disorder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1463040" y="164592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FD4FF"/>
                </a:solidFill>
              </a:rPr>
              <a:t>Tremor and rigidity change how a person controls a pen.</a:t>
            </a:r>
            <a:endParaRPr lang="en-US" sz="1100" dirty="0"/>
          </a:p>
        </p:txBody>
      </p:sp>
      <p:sp>
        <p:nvSpPr>
          <p:cNvPr id="8" name="Card"/>
          <p:cNvSpPr/>
          <p:nvPr/>
        </p:nvSpPr>
        <p:spPr>
          <a:xfrm>
            <a:off x="457200" y="2359152"/>
            <a:ext cx="4663440" cy="1024128"/>
          </a:xfrm>
          <a:prstGeom prst="roundRect">
            <a:avLst>
              <a:gd name="adj" fmla="val 10714"/>
            </a:avLst>
          </a:prstGeom>
          <a:solidFill>
            <a:srgbClr val="12295C">
              <a:alpha val="75000"/>
            </a:srgbClr>
          </a:solidFill>
          <a:ln w="12700">
            <a:solidFill>
              <a:srgbClr val="2E4F97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40080" y="2542032"/>
            <a:ext cx="658368" cy="658368"/>
          </a:xfrm>
          <a:prstGeom prst="ellipse">
            <a:avLst/>
          </a:prstGeom>
          <a:solidFill>
            <a:srgbClr val="818CF8">
              <a:alpha val="30000"/>
            </a:srgbClr>
          </a:solidFill>
          <a:ln w="19050">
            <a:solidFill>
              <a:srgbClr val="818CF8"/>
            </a:solidFill>
            <a:prstDash val="solid"/>
          </a:ln>
        </p:spPr>
      </p:sp>
      <p:pic>
        <p:nvPicPr>
          <p:cNvPr id="10" name="Image 1" descr="FaPe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256" y="2713208"/>
            <a:ext cx="316017" cy="316017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463040" y="24688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Handwriting reveals the signal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1463040" y="2816352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FD4FF"/>
                </a:solidFill>
              </a:rPr>
              <a:t>Spiral and wave drawings capture tremor and motor instability.</a:t>
            </a:r>
            <a:endParaRPr lang="en-US" sz="1100" dirty="0"/>
          </a:p>
        </p:txBody>
      </p:sp>
      <p:sp>
        <p:nvSpPr>
          <p:cNvPr id="13" name="Card"/>
          <p:cNvSpPr/>
          <p:nvPr/>
        </p:nvSpPr>
        <p:spPr>
          <a:xfrm>
            <a:off x="457200" y="3529584"/>
            <a:ext cx="4663440" cy="1024128"/>
          </a:xfrm>
          <a:prstGeom prst="roundRect">
            <a:avLst>
              <a:gd name="adj" fmla="val 10714"/>
            </a:avLst>
          </a:prstGeom>
          <a:solidFill>
            <a:srgbClr val="12295C">
              <a:alpha val="75000"/>
            </a:srgbClr>
          </a:solidFill>
          <a:ln w="12700">
            <a:solidFill>
              <a:srgbClr val="2E4F97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40080" y="3712464"/>
            <a:ext cx="658368" cy="658368"/>
          </a:xfrm>
          <a:prstGeom prst="ellipse">
            <a:avLst/>
          </a:prstGeom>
          <a:solidFill>
            <a:srgbClr val="22D3EE">
              <a:alpha val="30000"/>
            </a:srgbClr>
          </a:solidFill>
          <a:ln w="19050">
            <a:solidFill>
              <a:srgbClr val="22D3EE"/>
            </a:solidFill>
            <a:prstDash val="solid"/>
          </a:ln>
        </p:spPr>
      </p:sp>
      <p:pic>
        <p:nvPicPr>
          <p:cNvPr id="15" name="Image 2" descr="FaHeartbea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256" y="3883640"/>
            <a:ext cx="316017" cy="316017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463040" y="363931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Non-invasive and low-cost</a:t>
            </a:r>
            <a:endParaRPr lang="en-US" sz="1400" dirty="0"/>
          </a:p>
        </p:txBody>
      </p:sp>
      <p:sp>
        <p:nvSpPr>
          <p:cNvPr id="17" name="Text 12"/>
          <p:cNvSpPr txBox="1"/>
          <p:nvPr/>
        </p:nvSpPr>
        <p:spPr>
          <a:xfrm>
            <a:off x="1463040" y="3986784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FD4FF"/>
                </a:solidFill>
              </a:rPr>
              <a:t>Just paper and a camera. No expensive scanners or labs needed.</a:t>
            </a:r>
            <a:endParaRPr lang="en-US" sz="1100" dirty="0"/>
          </a:p>
        </p:txBody>
      </p:sp>
      <p:sp>
        <p:nvSpPr>
          <p:cNvPr id="18" name="Card"/>
          <p:cNvSpPr/>
          <p:nvPr/>
        </p:nvSpPr>
        <p:spPr>
          <a:xfrm>
            <a:off x="5394960" y="1188720"/>
            <a:ext cx="3291840" cy="3456432"/>
          </a:xfrm>
          <a:prstGeom prst="roundRect">
            <a:avLst>
              <a:gd name="adj" fmla="val 3333"/>
            </a:avLst>
          </a:prstGeom>
          <a:solidFill>
            <a:srgbClr val="12295C">
              <a:alpha val="75000"/>
            </a:srgbClr>
          </a:solidFill>
          <a:ln w="12700">
            <a:solidFill>
              <a:srgbClr val="2E4F97"/>
            </a:solidFill>
            <a:prstDash val="solid"/>
          </a:ln>
        </p:spPr>
      </p:sp>
      <p:pic>
        <p:nvPicPr>
          <p:cNvPr id="19" name="Image 3" descr="Spiral tes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1280160"/>
            <a:ext cx="2651760" cy="265176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5486400" y="38404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8BDF8"/>
                </a:solidFill>
              </a:rPr>
              <a:t>Spiral test</a:t>
            </a:r>
            <a:endParaRPr lang="en-US" sz="1200" dirty="0"/>
          </a:p>
        </p:txBody>
      </p:sp>
      <p:sp>
        <p:nvSpPr>
          <p:cNvPr id="21" name="Text 15"/>
          <p:cNvSpPr txBox="1"/>
          <p:nvPr/>
        </p:nvSpPr>
        <p:spPr>
          <a:xfrm>
            <a:off x="5486400" y="41605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FD4FF"/>
                </a:solidFill>
              </a:rPr>
              <a:t>Wave test  →  tremor amplitude &amp; rhythm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FB0F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Our Approach: End-to-End Pipeline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914400" y="2011680"/>
            <a:ext cx="7315200" cy="0"/>
          </a:xfrm>
          <a:prstGeom prst="line">
            <a:avLst/>
          </a:prstGeom>
          <a:noFill/>
          <a:ln w="25400">
            <a:solidFill>
              <a:srgbClr val="38BDF8"/>
            </a:solidFill>
            <a:prstDash val="dash"/>
          </a:ln>
        </p:spPr>
      </p:sp>
      <p:sp>
        <p:nvSpPr>
          <p:cNvPr id="4" name="Card"/>
          <p:cNvSpPr/>
          <p:nvPr/>
        </p:nvSpPr>
        <p:spPr>
          <a:xfrm>
            <a:off x="457200" y="1234440"/>
            <a:ext cx="1188720" cy="1920240"/>
          </a:xfrm>
          <a:prstGeom prst="roundRect">
            <a:avLst>
              <a:gd name="adj" fmla="val 9231"/>
            </a:avLst>
          </a:prstGeom>
          <a:solidFill>
            <a:srgbClr val="12295C">
              <a:alpha val="85000"/>
            </a:srgbClr>
          </a:solidFill>
          <a:ln w="12700">
            <a:solidFill>
              <a:srgbClr val="2E4F9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371600"/>
            <a:ext cx="640080" cy="640080"/>
          </a:xfrm>
          <a:prstGeom prst="ellipse">
            <a:avLst/>
          </a:prstGeom>
          <a:solidFill>
            <a:srgbClr val="38BDF8">
              <a:alpha val="30000"/>
            </a:srgbClr>
          </a:solidFill>
          <a:ln w="19050">
            <a:solidFill>
              <a:srgbClr val="38BDF8"/>
            </a:solidFill>
            <a:prstDash val="solid"/>
          </a:ln>
        </p:spPr>
      </p:sp>
      <p:pic>
        <p:nvPicPr>
          <p:cNvPr id="6" name="Image 0" descr="FaPe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941" y="15380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21031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D3EE"/>
                </a:solidFill>
              </a:rPr>
              <a:t>01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502920" y="23774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Drawing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502920" y="2724912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BFD4FF"/>
                </a:solidFill>
              </a:rPr>
              <a:t>224×224 image</a:t>
            </a:r>
            <a:endParaRPr lang="en-US" sz="950" dirty="0"/>
          </a:p>
        </p:txBody>
      </p:sp>
      <p:sp>
        <p:nvSpPr>
          <p:cNvPr id="10" name="Card"/>
          <p:cNvSpPr/>
          <p:nvPr/>
        </p:nvSpPr>
        <p:spPr>
          <a:xfrm>
            <a:off x="1828800" y="1234440"/>
            <a:ext cx="1188720" cy="1920240"/>
          </a:xfrm>
          <a:prstGeom prst="roundRect">
            <a:avLst>
              <a:gd name="adj" fmla="val 9231"/>
            </a:avLst>
          </a:prstGeom>
          <a:solidFill>
            <a:srgbClr val="12295C">
              <a:alpha val="85000"/>
            </a:srgbClr>
          </a:solidFill>
          <a:ln w="12700">
            <a:solidFill>
              <a:srgbClr val="2E4F9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103120" y="1371600"/>
            <a:ext cx="640080" cy="640080"/>
          </a:xfrm>
          <a:prstGeom prst="ellipse">
            <a:avLst/>
          </a:prstGeom>
          <a:solidFill>
            <a:srgbClr val="818CF8">
              <a:alpha val="30000"/>
            </a:srgbClr>
          </a:solidFill>
          <a:ln w="19050">
            <a:solidFill>
              <a:srgbClr val="818CF8"/>
            </a:solidFill>
            <a:prstDash val="solid"/>
          </a:ln>
        </p:spPr>
      </p:sp>
      <p:pic>
        <p:nvPicPr>
          <p:cNvPr id="12" name="Image 1" descr="FaLayerGroup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9541" y="15380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828800" y="21031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D3EE"/>
                </a:solidFill>
              </a:rPr>
              <a:t>02</a:t>
            </a:r>
            <a:endParaRPr lang="en-US" sz="1100" dirty="0"/>
          </a:p>
        </p:txBody>
      </p:sp>
      <p:sp>
        <p:nvSpPr>
          <p:cNvPr id="14" name="Text 10"/>
          <p:cNvSpPr txBox="1"/>
          <p:nvPr/>
        </p:nvSpPr>
        <p:spPr>
          <a:xfrm>
            <a:off x="1874520" y="23774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Augment</a:t>
            </a:r>
            <a:endParaRPr lang="en-US" sz="1150" dirty="0"/>
          </a:p>
        </p:txBody>
      </p:sp>
      <p:sp>
        <p:nvSpPr>
          <p:cNvPr id="15" name="Text 11"/>
          <p:cNvSpPr txBox="1"/>
          <p:nvPr/>
        </p:nvSpPr>
        <p:spPr>
          <a:xfrm>
            <a:off x="1874520" y="2724912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BFD4FF"/>
                </a:solidFill>
              </a:rPr>
              <a:t>Rotate, zoom, shift</a:t>
            </a:r>
            <a:endParaRPr lang="en-US" sz="950" dirty="0"/>
          </a:p>
        </p:txBody>
      </p:sp>
      <p:sp>
        <p:nvSpPr>
          <p:cNvPr id="16" name="Card"/>
          <p:cNvSpPr/>
          <p:nvPr/>
        </p:nvSpPr>
        <p:spPr>
          <a:xfrm>
            <a:off x="3200400" y="1234440"/>
            <a:ext cx="1188720" cy="1920240"/>
          </a:xfrm>
          <a:prstGeom prst="roundRect">
            <a:avLst>
              <a:gd name="adj" fmla="val 9231"/>
            </a:avLst>
          </a:prstGeom>
          <a:solidFill>
            <a:srgbClr val="12295C">
              <a:alpha val="85000"/>
            </a:srgbClr>
          </a:solidFill>
          <a:ln w="12700">
            <a:solidFill>
              <a:srgbClr val="2E4F97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3474720" y="1371600"/>
            <a:ext cx="640080" cy="640080"/>
          </a:xfrm>
          <a:prstGeom prst="ellipse">
            <a:avLst/>
          </a:prstGeom>
          <a:solidFill>
            <a:srgbClr val="38BDF8">
              <a:alpha val="30000"/>
            </a:srgbClr>
          </a:solidFill>
          <a:ln w="19050">
            <a:solidFill>
              <a:srgbClr val="38BDF8"/>
            </a:solidFill>
            <a:prstDash val="solid"/>
          </a:ln>
        </p:spPr>
      </p:sp>
      <p:pic>
        <p:nvPicPr>
          <p:cNvPr id="18" name="Image 2" descr="FaBrai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1141" y="153802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3200400" y="21031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D3EE"/>
                </a:solidFill>
              </a:rPr>
              <a:t>03</a:t>
            </a:r>
            <a:endParaRPr lang="en-US" sz="1100" dirty="0"/>
          </a:p>
        </p:txBody>
      </p:sp>
      <p:sp>
        <p:nvSpPr>
          <p:cNvPr id="20" name="Text 15"/>
          <p:cNvSpPr txBox="1"/>
          <p:nvPr/>
        </p:nvSpPr>
        <p:spPr>
          <a:xfrm>
            <a:off x="3246120" y="23774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EfficientNetB0</a:t>
            </a:r>
            <a:endParaRPr lang="en-US" sz="1150" dirty="0"/>
          </a:p>
        </p:txBody>
      </p:sp>
      <p:sp>
        <p:nvSpPr>
          <p:cNvPr id="21" name="Text 16"/>
          <p:cNvSpPr txBox="1"/>
          <p:nvPr/>
        </p:nvSpPr>
        <p:spPr>
          <a:xfrm>
            <a:off x="3246120" y="2724912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BFD4FF"/>
                </a:solidFill>
              </a:rPr>
              <a:t>ImageNet weights</a:t>
            </a:r>
            <a:endParaRPr lang="en-US" sz="950" dirty="0"/>
          </a:p>
        </p:txBody>
      </p:sp>
      <p:sp>
        <p:nvSpPr>
          <p:cNvPr id="22" name="Card"/>
          <p:cNvSpPr/>
          <p:nvPr/>
        </p:nvSpPr>
        <p:spPr>
          <a:xfrm>
            <a:off x="4572000" y="1234440"/>
            <a:ext cx="1188720" cy="1920240"/>
          </a:xfrm>
          <a:prstGeom prst="roundRect">
            <a:avLst>
              <a:gd name="adj" fmla="val 9231"/>
            </a:avLst>
          </a:prstGeom>
          <a:solidFill>
            <a:srgbClr val="12295C">
              <a:alpha val="85000"/>
            </a:srgbClr>
          </a:solidFill>
          <a:ln w="12700">
            <a:solidFill>
              <a:srgbClr val="2E4F97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4846320" y="1371600"/>
            <a:ext cx="640080" cy="640080"/>
          </a:xfrm>
          <a:prstGeom prst="ellipse">
            <a:avLst/>
          </a:prstGeom>
          <a:solidFill>
            <a:srgbClr val="818CF8">
              <a:alpha val="30000"/>
            </a:srgbClr>
          </a:solidFill>
          <a:ln w="19050">
            <a:solidFill>
              <a:srgbClr val="818CF8"/>
            </a:solidFill>
            <a:prstDash val="solid"/>
          </a:ln>
        </p:spPr>
      </p:sp>
      <p:pic>
        <p:nvPicPr>
          <p:cNvPr id="24" name="Image 3" descr="FaBol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2741" y="1538021"/>
            <a:ext cx="307238" cy="307238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4572000" y="21031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D3EE"/>
                </a:solidFill>
              </a:rPr>
              <a:t>04</a:t>
            </a:r>
            <a:endParaRPr lang="en-US" sz="1100" dirty="0"/>
          </a:p>
        </p:txBody>
      </p:sp>
      <p:sp>
        <p:nvSpPr>
          <p:cNvPr id="26" name="Text 20"/>
          <p:cNvSpPr txBox="1"/>
          <p:nvPr/>
        </p:nvSpPr>
        <p:spPr>
          <a:xfrm>
            <a:off x="4617720" y="23774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Pooling + Dense</a:t>
            </a:r>
            <a:endParaRPr lang="en-US" sz="1150" dirty="0"/>
          </a:p>
        </p:txBody>
      </p:sp>
      <p:sp>
        <p:nvSpPr>
          <p:cNvPr id="27" name="Text 21"/>
          <p:cNvSpPr txBox="1"/>
          <p:nvPr/>
        </p:nvSpPr>
        <p:spPr>
          <a:xfrm>
            <a:off x="4617720" y="2724912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BFD4FF"/>
                </a:solidFill>
              </a:rPr>
              <a:t>GAP, Dropout, L2</a:t>
            </a:r>
            <a:endParaRPr lang="en-US" sz="950" dirty="0"/>
          </a:p>
        </p:txBody>
      </p:sp>
      <p:sp>
        <p:nvSpPr>
          <p:cNvPr id="28" name="Card"/>
          <p:cNvSpPr/>
          <p:nvPr/>
        </p:nvSpPr>
        <p:spPr>
          <a:xfrm>
            <a:off x="5943600" y="1234440"/>
            <a:ext cx="1188720" cy="1920240"/>
          </a:xfrm>
          <a:prstGeom prst="roundRect">
            <a:avLst>
              <a:gd name="adj" fmla="val 9231"/>
            </a:avLst>
          </a:prstGeom>
          <a:solidFill>
            <a:srgbClr val="12295C">
              <a:alpha val="85000"/>
            </a:srgbClr>
          </a:solidFill>
          <a:ln w="12700">
            <a:solidFill>
              <a:srgbClr val="2E4F97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6217920" y="1371600"/>
            <a:ext cx="640080" cy="640080"/>
          </a:xfrm>
          <a:prstGeom prst="ellipse">
            <a:avLst/>
          </a:prstGeom>
          <a:solidFill>
            <a:srgbClr val="38BDF8">
              <a:alpha val="30000"/>
            </a:srgbClr>
          </a:solidFill>
          <a:ln w="19050">
            <a:solidFill>
              <a:srgbClr val="38BDF8"/>
            </a:solidFill>
            <a:prstDash val="solid"/>
          </a:ln>
        </p:spPr>
      </p:sp>
      <p:pic>
        <p:nvPicPr>
          <p:cNvPr id="30" name="Image 4" descr="FaSearch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4341" y="1538021"/>
            <a:ext cx="307238" cy="307238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5943600" y="21031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D3EE"/>
                </a:solidFill>
              </a:rPr>
              <a:t>05</a:t>
            </a:r>
            <a:endParaRPr lang="en-US" sz="1100" dirty="0"/>
          </a:p>
        </p:txBody>
      </p:sp>
      <p:sp>
        <p:nvSpPr>
          <p:cNvPr id="32" name="Text 25"/>
          <p:cNvSpPr txBox="1"/>
          <p:nvPr/>
        </p:nvSpPr>
        <p:spPr>
          <a:xfrm>
            <a:off x="5989320" y="23774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Sigmoid</a:t>
            </a:r>
            <a:endParaRPr lang="en-US" sz="1150" dirty="0"/>
          </a:p>
        </p:txBody>
      </p:sp>
      <p:sp>
        <p:nvSpPr>
          <p:cNvPr id="33" name="Text 26"/>
          <p:cNvSpPr txBox="1"/>
          <p:nvPr/>
        </p:nvSpPr>
        <p:spPr>
          <a:xfrm>
            <a:off x="5989320" y="2724912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BFD4FF"/>
                </a:solidFill>
              </a:rPr>
              <a:t>Probability</a:t>
            </a:r>
            <a:endParaRPr lang="en-US" sz="950" dirty="0"/>
          </a:p>
        </p:txBody>
      </p:sp>
      <p:sp>
        <p:nvSpPr>
          <p:cNvPr id="34" name="Card"/>
          <p:cNvSpPr/>
          <p:nvPr/>
        </p:nvSpPr>
        <p:spPr>
          <a:xfrm>
            <a:off x="7315200" y="1234440"/>
            <a:ext cx="1188720" cy="1920240"/>
          </a:xfrm>
          <a:prstGeom prst="roundRect">
            <a:avLst>
              <a:gd name="adj" fmla="val 9231"/>
            </a:avLst>
          </a:prstGeom>
          <a:solidFill>
            <a:srgbClr val="12295C">
              <a:alpha val="85000"/>
            </a:srgbClr>
          </a:solidFill>
          <a:ln w="12700">
            <a:solidFill>
              <a:srgbClr val="2E4F97"/>
            </a:solidFill>
            <a:prstDash val="solid"/>
          </a:ln>
        </p:spPr>
      </p:sp>
      <p:sp>
        <p:nvSpPr>
          <p:cNvPr id="35" name="Shape 28"/>
          <p:cNvSpPr/>
          <p:nvPr/>
        </p:nvSpPr>
        <p:spPr>
          <a:xfrm>
            <a:off x="7589520" y="1371600"/>
            <a:ext cx="640080" cy="640080"/>
          </a:xfrm>
          <a:prstGeom prst="ellipse">
            <a:avLst/>
          </a:prstGeom>
          <a:solidFill>
            <a:srgbClr val="818CF8">
              <a:alpha val="30000"/>
            </a:srgbClr>
          </a:solidFill>
          <a:ln w="19050">
            <a:solidFill>
              <a:srgbClr val="818CF8"/>
            </a:solidFill>
            <a:prstDash val="solid"/>
          </a:ln>
        </p:spPr>
      </p:sp>
      <p:pic>
        <p:nvPicPr>
          <p:cNvPr id="36" name="Image 5" descr="FaCheckCircle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55941" y="1538021"/>
            <a:ext cx="307238" cy="307238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7315200" y="21031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D3EE"/>
                </a:solidFill>
              </a:rPr>
              <a:t>06</a:t>
            </a:r>
            <a:endParaRPr lang="en-US" sz="1100" dirty="0"/>
          </a:p>
        </p:txBody>
      </p:sp>
      <p:sp>
        <p:nvSpPr>
          <p:cNvPr id="38" name="Text 30"/>
          <p:cNvSpPr txBox="1"/>
          <p:nvPr/>
        </p:nvSpPr>
        <p:spPr>
          <a:xfrm>
            <a:off x="7360920" y="23774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Prediction</a:t>
            </a:r>
            <a:endParaRPr lang="en-US" sz="1150" dirty="0"/>
          </a:p>
        </p:txBody>
      </p:sp>
      <p:sp>
        <p:nvSpPr>
          <p:cNvPr id="39" name="Text 31"/>
          <p:cNvSpPr txBox="1"/>
          <p:nvPr/>
        </p:nvSpPr>
        <p:spPr>
          <a:xfrm>
            <a:off x="7360920" y="2724912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BFD4FF"/>
                </a:solidFill>
              </a:rPr>
              <a:t>Healthy / Parkinson</a:t>
            </a:r>
            <a:endParaRPr lang="en-US" sz="950" dirty="0"/>
          </a:p>
        </p:txBody>
      </p:sp>
      <p:sp>
        <p:nvSpPr>
          <p:cNvPr id="40" name="Card"/>
          <p:cNvSpPr/>
          <p:nvPr/>
        </p:nvSpPr>
        <p:spPr>
          <a:xfrm>
            <a:off x="457200" y="3520440"/>
            <a:ext cx="8229600" cy="1005840"/>
          </a:xfrm>
          <a:prstGeom prst="roundRect">
            <a:avLst>
              <a:gd name="adj" fmla="val 10909"/>
            </a:avLst>
          </a:prstGeom>
          <a:solidFill>
            <a:srgbClr val="0E3A7A">
              <a:alpha val="90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1" name="Text 33"/>
          <p:cNvSpPr txBox="1"/>
          <p:nvPr/>
        </p:nvSpPr>
        <p:spPr>
          <a:xfrm>
            <a:off x="731520" y="356616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</a:rPr>
              <a:t>Two specialised models.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One trained on spiral drawings, one on wave drawings, each evaluated on its own and then combined as an ensemble by averaging probabilities.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FB0F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Dataset Overview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1143000"/>
          <a:ext cx="5120640" cy="3520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Card"/>
          <p:cNvSpPr/>
          <p:nvPr/>
        </p:nvSpPr>
        <p:spPr>
          <a:xfrm>
            <a:off x="5715000" y="1234440"/>
            <a:ext cx="1417320" cy="1554480"/>
          </a:xfrm>
          <a:prstGeom prst="roundRect">
            <a:avLst>
              <a:gd name="adj" fmla="val 7742"/>
            </a:avLst>
          </a:prstGeom>
          <a:solidFill>
            <a:srgbClr val="12295C">
              <a:alpha val="75000"/>
            </a:srgbClr>
          </a:solidFill>
          <a:ln w="12700">
            <a:solidFill>
              <a:srgbClr val="2E4F97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715000" y="141732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73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5806440" y="210312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FD4FF"/>
                </a:solidFill>
              </a:rPr>
              <a:t>Spiral training images</a:t>
            </a:r>
            <a:endParaRPr lang="en-US" sz="1050" dirty="0"/>
          </a:p>
        </p:txBody>
      </p:sp>
      <p:sp>
        <p:nvSpPr>
          <p:cNvPr id="7" name="Card"/>
          <p:cNvSpPr/>
          <p:nvPr/>
        </p:nvSpPr>
        <p:spPr>
          <a:xfrm>
            <a:off x="7223760" y="1234440"/>
            <a:ext cx="1417320" cy="1554480"/>
          </a:xfrm>
          <a:prstGeom prst="roundRect">
            <a:avLst>
              <a:gd name="adj" fmla="val 7742"/>
            </a:avLst>
          </a:prstGeom>
          <a:solidFill>
            <a:srgbClr val="12295C">
              <a:alpha val="75000"/>
            </a:srgbClr>
          </a:solidFill>
          <a:ln w="12700">
            <a:solidFill>
              <a:srgbClr val="2E4F97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223760" y="141732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818C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72</a:t>
            </a:r>
            <a:endParaRPr lang="en-US" sz="2800" dirty="0"/>
          </a:p>
        </p:txBody>
      </p:sp>
      <p:sp>
        <p:nvSpPr>
          <p:cNvPr id="9" name="Text 6"/>
          <p:cNvSpPr txBox="1"/>
          <p:nvPr/>
        </p:nvSpPr>
        <p:spPr>
          <a:xfrm>
            <a:off x="7315200" y="210312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FD4FF"/>
                </a:solidFill>
              </a:rPr>
              <a:t>Wave training images</a:t>
            </a:r>
            <a:endParaRPr lang="en-US" sz="1050" dirty="0"/>
          </a:p>
        </p:txBody>
      </p:sp>
      <p:sp>
        <p:nvSpPr>
          <p:cNvPr id="10" name="Card"/>
          <p:cNvSpPr/>
          <p:nvPr/>
        </p:nvSpPr>
        <p:spPr>
          <a:xfrm>
            <a:off x="5715000" y="2971800"/>
            <a:ext cx="1417320" cy="1554480"/>
          </a:xfrm>
          <a:prstGeom prst="roundRect">
            <a:avLst>
              <a:gd name="adj" fmla="val 7742"/>
            </a:avLst>
          </a:prstGeom>
          <a:solidFill>
            <a:srgbClr val="12295C">
              <a:alpha val="75000"/>
            </a:srgbClr>
          </a:solidFill>
          <a:ln w="12700">
            <a:solidFill>
              <a:srgbClr val="2E4F97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715000" y="315468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800" dirty="0"/>
          </a:p>
        </p:txBody>
      </p:sp>
      <p:sp>
        <p:nvSpPr>
          <p:cNvPr id="12" name="Text 9"/>
          <p:cNvSpPr txBox="1"/>
          <p:nvPr/>
        </p:nvSpPr>
        <p:spPr>
          <a:xfrm>
            <a:off x="5806440" y="384048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FD4FF"/>
                </a:solidFill>
              </a:rPr>
              <a:t>Classes: Healthy / Parkinson</a:t>
            </a:r>
            <a:endParaRPr lang="en-US" sz="1050" dirty="0"/>
          </a:p>
        </p:txBody>
      </p:sp>
      <p:sp>
        <p:nvSpPr>
          <p:cNvPr id="13" name="Card"/>
          <p:cNvSpPr/>
          <p:nvPr/>
        </p:nvSpPr>
        <p:spPr>
          <a:xfrm>
            <a:off x="7223760" y="2971800"/>
            <a:ext cx="1417320" cy="1554480"/>
          </a:xfrm>
          <a:prstGeom prst="roundRect">
            <a:avLst>
              <a:gd name="adj" fmla="val 7742"/>
            </a:avLst>
          </a:prstGeom>
          <a:solidFill>
            <a:srgbClr val="12295C">
              <a:alpha val="75000"/>
            </a:srgbClr>
          </a:solidFill>
          <a:ln w="12700">
            <a:solidFill>
              <a:srgbClr val="2E4F97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223760" y="315468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80/20</a:t>
            </a:r>
            <a:endParaRPr lang="en-US" sz="2800" dirty="0"/>
          </a:p>
        </p:txBody>
      </p:sp>
      <p:sp>
        <p:nvSpPr>
          <p:cNvPr id="15" name="Text 12"/>
          <p:cNvSpPr txBox="1"/>
          <p:nvPr/>
        </p:nvSpPr>
        <p:spPr>
          <a:xfrm>
            <a:off x="7315200" y="384048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FD4FF"/>
                </a:solidFill>
              </a:rPr>
              <a:t>Train / validation split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FB0F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Architecture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4846320" cy="475488"/>
          </a:xfrm>
          <a:prstGeom prst="roundRect">
            <a:avLst>
              <a:gd name="adj" fmla="val 19231"/>
            </a:avLst>
          </a:prstGeom>
          <a:solidFill>
            <a:srgbClr val="12295C"/>
          </a:solidFill>
          <a:ln w="12700">
            <a:solidFill>
              <a:srgbClr val="2E4F9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143000"/>
            <a:ext cx="4480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Input  224×224×3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88920" y="1618488"/>
            <a:ext cx="182880" cy="109728"/>
          </a:xfrm>
          <a:prstGeom prst="downArrow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728216"/>
            <a:ext cx="4846320" cy="475488"/>
          </a:xfrm>
          <a:prstGeom prst="roundRect">
            <a:avLst>
              <a:gd name="adj" fmla="val 19231"/>
            </a:avLst>
          </a:prstGeom>
          <a:solidFill>
            <a:srgbClr val="1B3A80"/>
          </a:solidFill>
          <a:ln w="12700">
            <a:solidFill>
              <a:srgbClr val="2E4F9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728216"/>
            <a:ext cx="4480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Data Augmentation  (rotation, zoom, shift, contrast)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88920" y="2203704"/>
            <a:ext cx="182880" cy="109728"/>
          </a:xfrm>
          <a:prstGeom prst="downArrow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313432"/>
            <a:ext cx="4846320" cy="475488"/>
          </a:xfrm>
          <a:prstGeom prst="roundRect">
            <a:avLst>
              <a:gd name="adj" fmla="val 19231"/>
            </a:avLst>
          </a:prstGeom>
          <a:solidFill>
            <a:srgbClr val="0E5AA7"/>
          </a:solidFill>
          <a:ln w="25400">
            <a:solidFill>
              <a:srgbClr val="38BDF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2313432"/>
            <a:ext cx="4480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EfficientNetB0  (ImageNet, include_top = False)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88920" y="2788920"/>
            <a:ext cx="182880" cy="109728"/>
          </a:xfrm>
          <a:prstGeom prst="downArrow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898648"/>
            <a:ext cx="4846320" cy="475488"/>
          </a:xfrm>
          <a:prstGeom prst="roundRect">
            <a:avLst>
              <a:gd name="adj" fmla="val 19231"/>
            </a:avLst>
          </a:prstGeom>
          <a:solidFill>
            <a:srgbClr val="1B3A80"/>
          </a:solidFill>
          <a:ln w="12700">
            <a:solidFill>
              <a:srgbClr val="2E4F9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2898648"/>
            <a:ext cx="4480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GlobalAveragePooling2D  +  Dropout 0.4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88920" y="3374136"/>
            <a:ext cx="182880" cy="109728"/>
          </a:xfrm>
          <a:prstGeom prst="downArrow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3483864"/>
            <a:ext cx="4846320" cy="475488"/>
          </a:xfrm>
          <a:prstGeom prst="roundRect">
            <a:avLst>
              <a:gd name="adj" fmla="val 19231"/>
            </a:avLst>
          </a:prstGeom>
          <a:solidFill>
            <a:srgbClr val="1B3A80"/>
          </a:solidFill>
          <a:ln w="12700">
            <a:solidFill>
              <a:srgbClr val="2E4F9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3483864"/>
            <a:ext cx="4480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Dense 64 (ReLU, L2 1e-3)  +  Dropout 0.3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88920" y="3959352"/>
            <a:ext cx="182880" cy="109728"/>
          </a:xfrm>
          <a:prstGeom prst="downArrow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4069080"/>
            <a:ext cx="4846320" cy="475488"/>
          </a:xfrm>
          <a:prstGeom prst="roundRect">
            <a:avLst>
              <a:gd name="adj" fmla="val 19231"/>
            </a:avLst>
          </a:prstGeom>
          <a:solidFill>
            <a:srgbClr val="0F766E"/>
          </a:solidFill>
          <a:ln w="12700">
            <a:solidFill>
              <a:srgbClr val="2E4F9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0080" y="4069080"/>
            <a:ext cx="4480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Dense 1 (Sigmoid)  →  Healthy / Parkinson</a:t>
            </a:r>
            <a:endParaRPr lang="en-US" sz="1200" dirty="0"/>
          </a:p>
        </p:txBody>
      </p:sp>
      <p:sp>
        <p:nvSpPr>
          <p:cNvPr id="20" name="Card"/>
          <p:cNvSpPr/>
          <p:nvPr/>
        </p:nvSpPr>
        <p:spPr>
          <a:xfrm>
            <a:off x="5577840" y="1143000"/>
            <a:ext cx="3108960" cy="1051560"/>
          </a:xfrm>
          <a:prstGeom prst="roundRect">
            <a:avLst>
              <a:gd name="adj" fmla="val 10435"/>
            </a:avLst>
          </a:prstGeom>
          <a:solidFill>
            <a:srgbClr val="12295C">
              <a:alpha val="75000"/>
            </a:srgbClr>
          </a:solidFill>
          <a:ln w="12700">
            <a:solidFill>
              <a:srgbClr val="2E4F9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577840" y="1280160"/>
            <a:ext cx="54864" cy="7772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806440" y="1234440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8BDF8"/>
                </a:solidFill>
              </a:rPr>
              <a:t>Why EfficientNetB0?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5806440" y="1527048"/>
            <a:ext cx="2788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FD4FF"/>
                </a:solidFill>
              </a:rPr>
              <a:t>Compound scaling gives high accuracy with a small footprint, ideal for limited data.</a:t>
            </a:r>
            <a:endParaRPr lang="en-US" sz="1050" dirty="0"/>
          </a:p>
        </p:txBody>
      </p:sp>
      <p:sp>
        <p:nvSpPr>
          <p:cNvPr id="24" name="Card"/>
          <p:cNvSpPr/>
          <p:nvPr/>
        </p:nvSpPr>
        <p:spPr>
          <a:xfrm>
            <a:off x="5577840" y="2313432"/>
            <a:ext cx="3108960" cy="1051560"/>
          </a:xfrm>
          <a:prstGeom prst="roundRect">
            <a:avLst>
              <a:gd name="adj" fmla="val 10435"/>
            </a:avLst>
          </a:prstGeom>
          <a:solidFill>
            <a:srgbClr val="12295C">
              <a:alpha val="75000"/>
            </a:srgbClr>
          </a:solidFill>
          <a:ln w="12700">
            <a:solidFill>
              <a:srgbClr val="2E4F9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577840" y="2450592"/>
            <a:ext cx="54864" cy="777240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806440" y="2404872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18CF8"/>
                </a:solidFill>
              </a:rPr>
              <a:t>Fighting overfitting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5806440" y="2697480"/>
            <a:ext cx="2788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FD4FF"/>
                </a:solidFill>
              </a:rPr>
              <a:t>Augmentation, two dropout layers and L2 regularisation guard against a tiny dataset.</a:t>
            </a:r>
            <a:endParaRPr lang="en-US" sz="1050" dirty="0"/>
          </a:p>
        </p:txBody>
      </p:sp>
      <p:sp>
        <p:nvSpPr>
          <p:cNvPr id="28" name="Card"/>
          <p:cNvSpPr/>
          <p:nvPr/>
        </p:nvSpPr>
        <p:spPr>
          <a:xfrm>
            <a:off x="5577840" y="3483864"/>
            <a:ext cx="3108960" cy="1051560"/>
          </a:xfrm>
          <a:prstGeom prst="roundRect">
            <a:avLst>
              <a:gd name="adj" fmla="val 10435"/>
            </a:avLst>
          </a:prstGeom>
          <a:solidFill>
            <a:srgbClr val="12295C">
              <a:alpha val="75000"/>
            </a:srgbClr>
          </a:solidFill>
          <a:ln w="12700">
            <a:solidFill>
              <a:srgbClr val="2E4F9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577840" y="3621024"/>
            <a:ext cx="54864" cy="77724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806440" y="3575304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D3EE"/>
                </a:solidFill>
              </a:rPr>
              <a:t>Transfer learning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5806440" y="3867912"/>
            <a:ext cx="2788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FD4FF"/>
                </a:solidFill>
              </a:rPr>
              <a:t>Pretrained ImageNet features adapt to tremor patterns in drawings.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FB0F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Two-Phase Training Strategy</a:t>
            </a:r>
            <a:endParaRPr lang="en-US" sz="2800" dirty="0"/>
          </a:p>
        </p:txBody>
      </p:sp>
      <p:sp>
        <p:nvSpPr>
          <p:cNvPr id="3" name="Card"/>
          <p:cNvSpPr/>
          <p:nvPr/>
        </p:nvSpPr>
        <p:spPr>
          <a:xfrm>
            <a:off x="457200" y="1188720"/>
            <a:ext cx="3931920" cy="2468880"/>
          </a:xfrm>
          <a:prstGeom prst="roundRect">
            <a:avLst>
              <a:gd name="adj" fmla="val 4444"/>
            </a:avLst>
          </a:prstGeom>
          <a:solidFill>
            <a:srgbClr val="12295C">
              <a:alpha val="85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2984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38BDF8"/>
                </a:solidFill>
              </a:rPr>
              <a:t>PHASE 1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572768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Frozen Base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057400"/>
            <a:ext cx="34747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BFD4FF"/>
                </a:solidFill>
              </a:rPr>
              <a:t>EfficientNetB0 frozen, train the head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BFD4FF"/>
                </a:solidFill>
              </a:rPr>
              <a:t>Adam, learning rate 1e-3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BFD4FF"/>
                </a:solidFill>
              </a:rPr>
              <a:t>Up to 40 epochs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BFD4FF"/>
                </a:solidFill>
              </a:rPr>
              <a:t>EarlyStopping (patience 8)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BFD4FF"/>
                </a:solidFill>
              </a:rPr>
              <a:t>ReduceLROnPlateau (×0.5)</a:t>
            </a:r>
            <a:endParaRPr lang="en-US" sz="1200" dirty="0"/>
          </a:p>
        </p:txBody>
      </p:sp>
      <p:sp>
        <p:nvSpPr>
          <p:cNvPr id="7" name="Card"/>
          <p:cNvSpPr/>
          <p:nvPr/>
        </p:nvSpPr>
        <p:spPr>
          <a:xfrm>
            <a:off x="4754880" y="1188720"/>
            <a:ext cx="3931920" cy="2468880"/>
          </a:xfrm>
          <a:prstGeom prst="roundRect">
            <a:avLst>
              <a:gd name="adj" fmla="val 4444"/>
            </a:avLst>
          </a:prstGeom>
          <a:solidFill>
            <a:srgbClr val="12295C">
              <a:alpha val="85000"/>
            </a:srgbClr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029200" y="12984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818CF8"/>
                </a:solidFill>
              </a:rPr>
              <a:t>PHASE 2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5029200" y="1572768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Fine-Tuning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5029200" y="2057400"/>
            <a:ext cx="34747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BFD4FF"/>
                </a:solidFill>
              </a:rPr>
              <a:t>Unfreeze last 30 layers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BFD4FF"/>
                </a:solidFill>
              </a:rPr>
              <a:t>BatchNorm layers kept frozen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BFD4FF"/>
                </a:solidFill>
              </a:rPr>
              <a:t>Adam, learning rate 1e-5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BFD4FF"/>
                </a:solidFill>
              </a:rPr>
              <a:t>EarlyStopping (patience 10)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BFD4FF"/>
                </a:solidFill>
              </a:rPr>
              <a:t>Best weights restored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407408" y="2194560"/>
            <a:ext cx="329184" cy="365760"/>
          </a:xfrm>
          <a:prstGeom prst="rightArrow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2" name="Card"/>
          <p:cNvSpPr/>
          <p:nvPr/>
        </p:nvSpPr>
        <p:spPr>
          <a:xfrm>
            <a:off x="457200" y="3840480"/>
            <a:ext cx="1920240" cy="777240"/>
          </a:xfrm>
          <a:prstGeom prst="roundRect">
            <a:avLst>
              <a:gd name="adj" fmla="val 14118"/>
            </a:avLst>
          </a:prstGeom>
          <a:solidFill>
            <a:srgbClr val="12295C">
              <a:alpha val="90000"/>
            </a:srgbClr>
          </a:solidFill>
          <a:ln w="12700">
            <a:solidFill>
              <a:srgbClr val="2E4F9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390448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D3EE"/>
                </a:solidFill>
              </a:rPr>
              <a:t>Class weights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423367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FD4FF"/>
                </a:solidFill>
              </a:rPr>
              <a:t>Balances both classes</a:t>
            </a:r>
            <a:endParaRPr lang="en-US" sz="1000" dirty="0"/>
          </a:p>
        </p:txBody>
      </p:sp>
      <p:sp>
        <p:nvSpPr>
          <p:cNvPr id="15" name="Card"/>
          <p:cNvSpPr/>
          <p:nvPr/>
        </p:nvSpPr>
        <p:spPr>
          <a:xfrm>
            <a:off x="2532888" y="3840480"/>
            <a:ext cx="1920240" cy="777240"/>
          </a:xfrm>
          <a:prstGeom prst="roundRect">
            <a:avLst>
              <a:gd name="adj" fmla="val 14118"/>
            </a:avLst>
          </a:prstGeom>
          <a:solidFill>
            <a:srgbClr val="12295C">
              <a:alpha val="90000"/>
            </a:srgbClr>
          </a:solidFill>
          <a:ln w="12700">
            <a:solidFill>
              <a:srgbClr val="2E4F9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532888" y="390448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D3EE"/>
                </a:solidFill>
              </a:rPr>
              <a:t>Batch size 16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2532888" y="423367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FD4FF"/>
                </a:solidFill>
              </a:rPr>
              <a:t>224×224 inputs</a:t>
            </a:r>
            <a:endParaRPr lang="en-US" sz="1000" dirty="0"/>
          </a:p>
        </p:txBody>
      </p:sp>
      <p:sp>
        <p:nvSpPr>
          <p:cNvPr id="18" name="Card"/>
          <p:cNvSpPr/>
          <p:nvPr/>
        </p:nvSpPr>
        <p:spPr>
          <a:xfrm>
            <a:off x="4608576" y="3840480"/>
            <a:ext cx="1920240" cy="777240"/>
          </a:xfrm>
          <a:prstGeom prst="roundRect">
            <a:avLst>
              <a:gd name="adj" fmla="val 14118"/>
            </a:avLst>
          </a:prstGeom>
          <a:solidFill>
            <a:srgbClr val="12295C">
              <a:alpha val="90000"/>
            </a:srgbClr>
          </a:solidFill>
          <a:ln w="12700">
            <a:solidFill>
              <a:srgbClr val="2E4F9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608576" y="390448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D3EE"/>
                </a:solidFill>
              </a:rPr>
              <a:t>Seed 42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608576" y="423367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FD4FF"/>
                </a:solidFill>
              </a:rPr>
              <a:t>Reproducible runs</a:t>
            </a:r>
            <a:endParaRPr lang="en-US" sz="1000" dirty="0"/>
          </a:p>
        </p:txBody>
      </p:sp>
      <p:sp>
        <p:nvSpPr>
          <p:cNvPr id="21" name="Card"/>
          <p:cNvSpPr/>
          <p:nvPr/>
        </p:nvSpPr>
        <p:spPr>
          <a:xfrm>
            <a:off x="6684264" y="3840480"/>
            <a:ext cx="1920240" cy="777240"/>
          </a:xfrm>
          <a:prstGeom prst="roundRect">
            <a:avLst>
              <a:gd name="adj" fmla="val 14118"/>
            </a:avLst>
          </a:prstGeom>
          <a:solidFill>
            <a:srgbClr val="12295C">
              <a:alpha val="90000"/>
            </a:srgbClr>
          </a:solidFill>
          <a:ln w="12700">
            <a:solidFill>
              <a:srgbClr val="2E4F97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684264" y="390448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D3EE"/>
                </a:solidFill>
              </a:rPr>
              <a:t>Binary cross-entropy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684264" y="423367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FD4FF"/>
                </a:solidFill>
              </a:rPr>
              <a:t>Adam optimiser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FB0F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Results: Spiral Model</a:t>
            </a:r>
            <a:endParaRPr lang="en-US" sz="2800" dirty="0"/>
          </a:p>
        </p:txBody>
      </p:sp>
      <p:sp>
        <p:nvSpPr>
          <p:cNvPr id="3" name="Card"/>
          <p:cNvSpPr/>
          <p:nvPr/>
        </p:nvSpPr>
        <p:spPr>
          <a:xfrm>
            <a:off x="457200" y="1143000"/>
            <a:ext cx="2468880" cy="2743200"/>
          </a:xfrm>
          <a:prstGeom prst="roundRect">
            <a:avLst>
              <a:gd name="adj" fmla="val 4444"/>
            </a:avLst>
          </a:prstGeom>
          <a:solidFill>
            <a:srgbClr val="12295C">
              <a:alpha val="75000"/>
            </a:srgbClr>
          </a:solidFill>
          <a:ln w="12700">
            <a:solidFill>
              <a:srgbClr val="2E4F97"/>
            </a:solidFill>
            <a:prstDash val="solid"/>
          </a:ln>
        </p:spPr>
      </p:sp>
      <p:graphicFrame>
        <p:nvGraphicFramePr>
          <p:cNvPr id="4" name="Chart 0" descr=""/>
          <p:cNvGraphicFramePr/>
          <p:nvPr/>
        </p:nvGraphicFramePr>
        <p:xfrm>
          <a:off x="502920" y="1188720"/>
          <a:ext cx="2377440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02920" y="19202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76.7%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502920" y="33375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FD4FF"/>
                </a:solidFill>
              </a:rPr>
              <a:t>Test accuracy (30 images)</a:t>
            </a:r>
            <a:endParaRPr lang="en-US" sz="1100" dirty="0"/>
          </a:p>
        </p:txBody>
      </p:sp>
      <p:sp>
        <p:nvSpPr>
          <p:cNvPr id="7" name="Card"/>
          <p:cNvSpPr/>
          <p:nvPr/>
        </p:nvSpPr>
        <p:spPr>
          <a:xfrm>
            <a:off x="3108960" y="1143000"/>
            <a:ext cx="2743200" cy="2743200"/>
          </a:xfrm>
          <a:prstGeom prst="roundRect">
            <a:avLst>
              <a:gd name="adj" fmla="val 4000"/>
            </a:avLst>
          </a:prstGeom>
          <a:solidFill>
            <a:srgbClr val="12295C">
              <a:alpha val="75000"/>
            </a:srgbClr>
          </a:solidFill>
          <a:ln w="12700">
            <a:solidFill>
              <a:srgbClr val="2E4F97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108960" y="12070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Confusion matrix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3840480" y="148132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FD4FF"/>
                </a:solidFill>
              </a:rPr>
              <a:t>Predicted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3840480" y="1682496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FD4FF"/>
                </a:solidFill>
              </a:rPr>
              <a:t>Healthy</a:t>
            </a:r>
            <a:endParaRPr lang="en-US" sz="950" dirty="0"/>
          </a:p>
        </p:txBody>
      </p:sp>
      <p:sp>
        <p:nvSpPr>
          <p:cNvPr id="11" name="Text 8"/>
          <p:cNvSpPr txBox="1"/>
          <p:nvPr/>
        </p:nvSpPr>
        <p:spPr>
          <a:xfrm>
            <a:off x="3154680" y="224028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BFD4FF"/>
                </a:solidFill>
              </a:rPr>
              <a:t>Healthy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4800600" y="1682496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FD4FF"/>
                </a:solidFill>
              </a:rPr>
              <a:t>Parkinson</a:t>
            </a:r>
            <a:endParaRPr lang="en-US" sz="950" dirty="0"/>
          </a:p>
        </p:txBody>
      </p:sp>
      <p:sp>
        <p:nvSpPr>
          <p:cNvPr id="13" name="Text 10"/>
          <p:cNvSpPr txBox="1"/>
          <p:nvPr/>
        </p:nvSpPr>
        <p:spPr>
          <a:xfrm>
            <a:off x="3154680" y="315468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BFD4FF"/>
                </a:solidFill>
              </a:rPr>
              <a:t>Parkinson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3886200" y="1920240"/>
            <a:ext cx="896112" cy="841248"/>
          </a:xfrm>
          <a:prstGeom prst="roundRect">
            <a:avLst>
              <a:gd name="adj" fmla="val 8696"/>
            </a:avLst>
          </a:prstGeom>
          <a:solidFill>
            <a:srgbClr val="34D399">
              <a:alpha val="60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3886200" y="1920240"/>
            <a:ext cx="89611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14</a:t>
            </a:r>
            <a:endParaRPr lang="en-US" sz="2600" dirty="0"/>
          </a:p>
        </p:txBody>
      </p:sp>
      <p:sp>
        <p:nvSpPr>
          <p:cNvPr id="16" name="Shape 13"/>
          <p:cNvSpPr/>
          <p:nvPr/>
        </p:nvSpPr>
        <p:spPr>
          <a:xfrm>
            <a:off x="4846320" y="1920240"/>
            <a:ext cx="896112" cy="841248"/>
          </a:xfrm>
          <a:prstGeom prst="roundRect">
            <a:avLst>
              <a:gd name="adj" fmla="val 8696"/>
            </a:avLst>
          </a:prstGeom>
          <a:solidFill>
            <a:srgbClr val="EF4444">
              <a:alpha val="45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846320" y="1920240"/>
            <a:ext cx="89611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600" dirty="0"/>
          </a:p>
        </p:txBody>
      </p:sp>
      <p:sp>
        <p:nvSpPr>
          <p:cNvPr id="18" name="Shape 15"/>
          <p:cNvSpPr/>
          <p:nvPr/>
        </p:nvSpPr>
        <p:spPr>
          <a:xfrm>
            <a:off x="3886200" y="2834640"/>
            <a:ext cx="896112" cy="841248"/>
          </a:xfrm>
          <a:prstGeom prst="roundRect">
            <a:avLst>
              <a:gd name="adj" fmla="val 8696"/>
            </a:avLst>
          </a:prstGeom>
          <a:solidFill>
            <a:srgbClr val="EF4444">
              <a:alpha val="45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3886200" y="2834640"/>
            <a:ext cx="89611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2600" dirty="0"/>
          </a:p>
        </p:txBody>
      </p:sp>
      <p:sp>
        <p:nvSpPr>
          <p:cNvPr id="20" name="Shape 17"/>
          <p:cNvSpPr/>
          <p:nvPr/>
        </p:nvSpPr>
        <p:spPr>
          <a:xfrm>
            <a:off x="4846320" y="2834640"/>
            <a:ext cx="896112" cy="841248"/>
          </a:xfrm>
          <a:prstGeom prst="roundRect">
            <a:avLst>
              <a:gd name="adj" fmla="val 8696"/>
            </a:avLst>
          </a:prstGeom>
          <a:solidFill>
            <a:srgbClr val="34D399">
              <a:alpha val="60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4846320" y="2834640"/>
            <a:ext cx="89611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</a:t>
            </a:r>
            <a:endParaRPr lang="en-US" sz="2600" dirty="0"/>
          </a:p>
        </p:txBody>
      </p:sp>
      <p:sp>
        <p:nvSpPr>
          <p:cNvPr id="22" name="Text 19"/>
          <p:cNvSpPr txBox="1"/>
          <p:nvPr/>
        </p:nvSpPr>
        <p:spPr>
          <a:xfrm>
            <a:off x="3154680" y="201168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FB0F0"/>
                </a:solidFill>
              </a:rPr>
              <a:t>Actual</a:t>
            </a:r>
            <a:endParaRPr lang="en-US" sz="800" dirty="0"/>
          </a:p>
        </p:txBody>
      </p:sp>
      <p:graphicFrame>
        <p:nvGraphicFramePr>
          <p:cNvPr id="23" name="Chart 1" descr=""/>
          <p:cNvGraphicFramePr/>
          <p:nvPr/>
        </p:nvGraphicFramePr>
        <p:xfrm>
          <a:off x="5943600" y="1097280"/>
          <a:ext cx="283464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4" name="Card"/>
          <p:cNvSpPr/>
          <p:nvPr/>
        </p:nvSpPr>
        <p:spPr>
          <a:xfrm>
            <a:off x="457200" y="4023360"/>
            <a:ext cx="8229600" cy="640080"/>
          </a:xfrm>
          <a:prstGeom prst="roundRect">
            <a:avLst>
              <a:gd name="adj" fmla="val 17143"/>
            </a:avLst>
          </a:prstGeom>
          <a:solidFill>
            <a:srgbClr val="0E3A7A">
              <a:alpha val="90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685800" y="40233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8BDF8"/>
                </a:solidFill>
              </a:rPr>
              <a:t>Insight: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High precision for Parkinson (0.90), but recall is 0.60, so some cases are missed. Spiral shapes are harder to separate.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FB0F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Results: Wave Model</a:t>
            </a:r>
            <a:endParaRPr lang="en-US" sz="2800" dirty="0"/>
          </a:p>
        </p:txBody>
      </p:sp>
      <p:sp>
        <p:nvSpPr>
          <p:cNvPr id="3" name="Card"/>
          <p:cNvSpPr/>
          <p:nvPr/>
        </p:nvSpPr>
        <p:spPr>
          <a:xfrm>
            <a:off x="457200" y="1143000"/>
            <a:ext cx="2468880" cy="2743200"/>
          </a:xfrm>
          <a:prstGeom prst="roundRect">
            <a:avLst>
              <a:gd name="adj" fmla="val 4444"/>
            </a:avLst>
          </a:prstGeom>
          <a:solidFill>
            <a:srgbClr val="12295C">
              <a:alpha val="75000"/>
            </a:srgbClr>
          </a:solidFill>
          <a:ln w="12700">
            <a:solidFill>
              <a:srgbClr val="2E4F97"/>
            </a:solidFill>
            <a:prstDash val="solid"/>
          </a:ln>
        </p:spPr>
      </p:sp>
      <p:graphicFrame>
        <p:nvGraphicFramePr>
          <p:cNvPr id="4" name="Chart 0" descr=""/>
          <p:cNvGraphicFramePr/>
          <p:nvPr/>
        </p:nvGraphicFramePr>
        <p:xfrm>
          <a:off x="502920" y="1188720"/>
          <a:ext cx="2377440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02920" y="19202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90%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502920" y="33375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FD4FF"/>
                </a:solidFill>
              </a:rPr>
              <a:t>Test accuracy (30 images)</a:t>
            </a:r>
            <a:endParaRPr lang="en-US" sz="1100" dirty="0"/>
          </a:p>
        </p:txBody>
      </p:sp>
      <p:sp>
        <p:nvSpPr>
          <p:cNvPr id="7" name="Card"/>
          <p:cNvSpPr/>
          <p:nvPr/>
        </p:nvSpPr>
        <p:spPr>
          <a:xfrm>
            <a:off x="3108960" y="1143000"/>
            <a:ext cx="2743200" cy="2743200"/>
          </a:xfrm>
          <a:prstGeom prst="roundRect">
            <a:avLst>
              <a:gd name="adj" fmla="val 4000"/>
            </a:avLst>
          </a:prstGeom>
          <a:solidFill>
            <a:srgbClr val="12295C">
              <a:alpha val="75000"/>
            </a:srgbClr>
          </a:solidFill>
          <a:ln w="12700">
            <a:solidFill>
              <a:srgbClr val="2E4F97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108960" y="12070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Confusion matrix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3840480" y="148132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FD4FF"/>
                </a:solidFill>
              </a:rPr>
              <a:t>Predicted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3840480" y="1682496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FD4FF"/>
                </a:solidFill>
              </a:rPr>
              <a:t>Healthy</a:t>
            </a:r>
            <a:endParaRPr lang="en-US" sz="950" dirty="0"/>
          </a:p>
        </p:txBody>
      </p:sp>
      <p:sp>
        <p:nvSpPr>
          <p:cNvPr id="11" name="Text 8"/>
          <p:cNvSpPr txBox="1"/>
          <p:nvPr/>
        </p:nvSpPr>
        <p:spPr>
          <a:xfrm>
            <a:off x="3154680" y="224028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BFD4FF"/>
                </a:solidFill>
              </a:rPr>
              <a:t>Healthy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4800600" y="1682496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FD4FF"/>
                </a:solidFill>
              </a:rPr>
              <a:t>Parkinson</a:t>
            </a:r>
            <a:endParaRPr lang="en-US" sz="950" dirty="0"/>
          </a:p>
        </p:txBody>
      </p:sp>
      <p:sp>
        <p:nvSpPr>
          <p:cNvPr id="13" name="Text 10"/>
          <p:cNvSpPr txBox="1"/>
          <p:nvPr/>
        </p:nvSpPr>
        <p:spPr>
          <a:xfrm>
            <a:off x="3154680" y="315468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BFD4FF"/>
                </a:solidFill>
              </a:rPr>
              <a:t>Parkinson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3886200" y="1920240"/>
            <a:ext cx="896112" cy="841248"/>
          </a:xfrm>
          <a:prstGeom prst="roundRect">
            <a:avLst>
              <a:gd name="adj" fmla="val 8696"/>
            </a:avLst>
          </a:prstGeom>
          <a:solidFill>
            <a:srgbClr val="34D399">
              <a:alpha val="60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3886200" y="1920240"/>
            <a:ext cx="89611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14</a:t>
            </a:r>
            <a:endParaRPr lang="en-US" sz="2600" dirty="0"/>
          </a:p>
        </p:txBody>
      </p:sp>
      <p:sp>
        <p:nvSpPr>
          <p:cNvPr id="16" name="Shape 13"/>
          <p:cNvSpPr/>
          <p:nvPr/>
        </p:nvSpPr>
        <p:spPr>
          <a:xfrm>
            <a:off x="4846320" y="1920240"/>
            <a:ext cx="896112" cy="841248"/>
          </a:xfrm>
          <a:prstGeom prst="roundRect">
            <a:avLst>
              <a:gd name="adj" fmla="val 8696"/>
            </a:avLst>
          </a:prstGeom>
          <a:solidFill>
            <a:srgbClr val="EF4444">
              <a:alpha val="45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846320" y="1920240"/>
            <a:ext cx="89611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600" dirty="0"/>
          </a:p>
        </p:txBody>
      </p:sp>
      <p:sp>
        <p:nvSpPr>
          <p:cNvPr id="18" name="Shape 15"/>
          <p:cNvSpPr/>
          <p:nvPr/>
        </p:nvSpPr>
        <p:spPr>
          <a:xfrm>
            <a:off x="3886200" y="2834640"/>
            <a:ext cx="896112" cy="841248"/>
          </a:xfrm>
          <a:prstGeom prst="roundRect">
            <a:avLst>
              <a:gd name="adj" fmla="val 8696"/>
            </a:avLst>
          </a:prstGeom>
          <a:solidFill>
            <a:srgbClr val="EF4444">
              <a:alpha val="45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3886200" y="2834640"/>
            <a:ext cx="89611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600" dirty="0"/>
          </a:p>
        </p:txBody>
      </p:sp>
      <p:sp>
        <p:nvSpPr>
          <p:cNvPr id="20" name="Shape 17"/>
          <p:cNvSpPr/>
          <p:nvPr/>
        </p:nvSpPr>
        <p:spPr>
          <a:xfrm>
            <a:off x="4846320" y="2834640"/>
            <a:ext cx="896112" cy="841248"/>
          </a:xfrm>
          <a:prstGeom prst="roundRect">
            <a:avLst>
              <a:gd name="adj" fmla="val 8696"/>
            </a:avLst>
          </a:prstGeom>
          <a:solidFill>
            <a:srgbClr val="34D399">
              <a:alpha val="60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4846320" y="2834640"/>
            <a:ext cx="89611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13</a:t>
            </a:r>
            <a:endParaRPr lang="en-US" sz="2600" dirty="0"/>
          </a:p>
        </p:txBody>
      </p:sp>
      <p:sp>
        <p:nvSpPr>
          <p:cNvPr id="22" name="Text 19"/>
          <p:cNvSpPr txBox="1"/>
          <p:nvPr/>
        </p:nvSpPr>
        <p:spPr>
          <a:xfrm>
            <a:off x="3154680" y="201168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FB0F0"/>
                </a:solidFill>
              </a:rPr>
              <a:t>Actual</a:t>
            </a:r>
            <a:endParaRPr lang="en-US" sz="800" dirty="0"/>
          </a:p>
        </p:txBody>
      </p:sp>
      <p:graphicFrame>
        <p:nvGraphicFramePr>
          <p:cNvPr id="23" name="Chart 1" descr=""/>
          <p:cNvGraphicFramePr/>
          <p:nvPr/>
        </p:nvGraphicFramePr>
        <p:xfrm>
          <a:off x="5943600" y="1097280"/>
          <a:ext cx="283464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4" name="Card"/>
          <p:cNvSpPr/>
          <p:nvPr/>
        </p:nvSpPr>
        <p:spPr>
          <a:xfrm>
            <a:off x="457200" y="4023360"/>
            <a:ext cx="8229600" cy="640080"/>
          </a:xfrm>
          <a:prstGeom prst="roundRect">
            <a:avLst>
              <a:gd name="adj" fmla="val 17143"/>
            </a:avLst>
          </a:prstGeom>
          <a:solidFill>
            <a:srgbClr val="0E3A7A">
              <a:alpha val="90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685800" y="40233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4D399"/>
                </a:solidFill>
              </a:rPr>
              <a:t>Insight: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Balanced and strong: 0.90 F1 on both classes, with only 3 of 30 drawings misclassified.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FB0F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Comparison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1097280"/>
          <a:ext cx="512064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Card"/>
          <p:cNvSpPr/>
          <p:nvPr/>
        </p:nvSpPr>
        <p:spPr>
          <a:xfrm>
            <a:off x="5669280" y="1188720"/>
            <a:ext cx="3017520" cy="1051560"/>
          </a:xfrm>
          <a:prstGeom prst="roundRect">
            <a:avLst>
              <a:gd name="adj" fmla="val 10435"/>
            </a:avLst>
          </a:prstGeom>
          <a:solidFill>
            <a:srgbClr val="12295C">
              <a:alpha val="75000"/>
            </a:srgbClr>
          </a:solidFill>
          <a:ln w="12700">
            <a:solidFill>
              <a:srgbClr val="2E4F97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852160" y="12801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D399"/>
                </a:solidFill>
              </a:rPr>
              <a:t>Wave model leads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5852160" y="1609344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FD4FF"/>
                </a:solidFill>
              </a:rPr>
              <a:t>90.0% accuracy with balanced precision and recall.</a:t>
            </a:r>
            <a:endParaRPr lang="en-US" sz="1050" dirty="0"/>
          </a:p>
        </p:txBody>
      </p:sp>
      <p:sp>
        <p:nvSpPr>
          <p:cNvPr id="7" name="Card"/>
          <p:cNvSpPr/>
          <p:nvPr/>
        </p:nvSpPr>
        <p:spPr>
          <a:xfrm>
            <a:off x="5669280" y="2359152"/>
            <a:ext cx="3017520" cy="1051560"/>
          </a:xfrm>
          <a:prstGeom prst="roundRect">
            <a:avLst>
              <a:gd name="adj" fmla="val 10435"/>
            </a:avLst>
          </a:prstGeom>
          <a:solidFill>
            <a:srgbClr val="12295C">
              <a:alpha val="75000"/>
            </a:srgbClr>
          </a:solidFill>
          <a:ln w="12700">
            <a:solidFill>
              <a:srgbClr val="2E4F97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852160" y="245059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18CF8"/>
                </a:solidFill>
              </a:rPr>
              <a:t>Ensemble: 86.7%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5852160" y="2779776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FD4FF"/>
                </a:solidFill>
              </a:rPr>
              <a:t>Averaging both models lifts the weaker spiral stream (76.7%).</a:t>
            </a:r>
            <a:endParaRPr lang="en-US" sz="1050" dirty="0"/>
          </a:p>
        </p:txBody>
      </p:sp>
      <p:sp>
        <p:nvSpPr>
          <p:cNvPr id="10" name="Card"/>
          <p:cNvSpPr/>
          <p:nvPr/>
        </p:nvSpPr>
        <p:spPr>
          <a:xfrm>
            <a:off x="5669280" y="3529584"/>
            <a:ext cx="3017520" cy="1051560"/>
          </a:xfrm>
          <a:prstGeom prst="roundRect">
            <a:avLst>
              <a:gd name="adj" fmla="val 10435"/>
            </a:avLst>
          </a:prstGeom>
          <a:solidFill>
            <a:srgbClr val="12295C">
              <a:alpha val="75000"/>
            </a:srgbClr>
          </a:solidFill>
          <a:ln w="12700">
            <a:solidFill>
              <a:srgbClr val="2E4F97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852160" y="3621024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</a:rPr>
              <a:t>Takeaway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5852160" y="3950208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FD4FF"/>
                </a:solidFill>
              </a:rPr>
              <a:t>Wave drawings carry the strongest signal for this dataset.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FB0F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Takeaways &amp; Future Scope</a:t>
            </a:r>
            <a:endParaRPr lang="en-US" sz="2800" dirty="0"/>
          </a:p>
        </p:txBody>
      </p:sp>
      <p:sp>
        <p:nvSpPr>
          <p:cNvPr id="3" name="Card"/>
          <p:cNvSpPr/>
          <p:nvPr/>
        </p:nvSpPr>
        <p:spPr>
          <a:xfrm>
            <a:off x="457200" y="1188720"/>
            <a:ext cx="3931920" cy="3429000"/>
          </a:xfrm>
          <a:prstGeom prst="roundRect">
            <a:avLst>
              <a:gd name="adj" fmla="val 3200"/>
            </a:avLst>
          </a:prstGeom>
          <a:solidFill>
            <a:srgbClr val="12295C">
              <a:alpha val="85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29844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8BDF8"/>
                </a:solidFill>
              </a:rPr>
              <a:t>WHAT WE ACHIEVED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645920"/>
            <a:ext cx="34747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</a:rPr>
              <a:t>Two EfficientNetB0 classifiers built with two-phase transfer learning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</a:rPr>
              <a:t>90% test accuracy on wave drawings, 76.7% on spiral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</a:rPr>
              <a:t>86.7% with a simple probability-averaging ensemble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</a:rPr>
              <a:t>Trained on only ~70 images per task, with augmentation and regularisation</a:t>
            </a:r>
            <a:endParaRPr lang="en-US" sz="1250" dirty="0"/>
          </a:p>
        </p:txBody>
      </p:sp>
      <p:sp>
        <p:nvSpPr>
          <p:cNvPr id="6" name="Card"/>
          <p:cNvSpPr/>
          <p:nvPr/>
        </p:nvSpPr>
        <p:spPr>
          <a:xfrm>
            <a:off x="4663440" y="1188720"/>
            <a:ext cx="4023360" cy="749808"/>
          </a:xfrm>
          <a:prstGeom prst="roundRect">
            <a:avLst>
              <a:gd name="adj" fmla="val 14634"/>
            </a:avLst>
          </a:prstGeom>
          <a:solidFill>
            <a:srgbClr val="12295C">
              <a:alpha val="75000"/>
            </a:srgbClr>
          </a:solidFill>
          <a:ln w="12700">
            <a:solidFill>
              <a:srgbClr val="2E4F9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800600" y="1280160"/>
            <a:ext cx="566928" cy="566928"/>
          </a:xfrm>
          <a:prstGeom prst="ellipse">
            <a:avLst/>
          </a:prstGeom>
          <a:solidFill>
            <a:srgbClr val="818CF8">
              <a:alpha val="30000"/>
            </a:srgbClr>
          </a:solidFill>
          <a:ln w="19050">
            <a:solidFill>
              <a:srgbClr val="818CF8"/>
            </a:solidFill>
            <a:prstDash val="solid"/>
          </a:ln>
        </p:spPr>
      </p:sp>
      <p:pic>
        <p:nvPicPr>
          <p:cNvPr id="8" name="Image 0" descr="FaDatabas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48001" y="1427561"/>
            <a:ext cx="272125" cy="272125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532120" y="1188720"/>
            <a:ext cx="3063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Larger, more diverse datasets</a:t>
            </a:r>
            <a:endParaRPr lang="en-US" sz="1250" dirty="0"/>
          </a:p>
        </p:txBody>
      </p:sp>
      <p:sp>
        <p:nvSpPr>
          <p:cNvPr id="10" name="Card"/>
          <p:cNvSpPr/>
          <p:nvPr/>
        </p:nvSpPr>
        <p:spPr>
          <a:xfrm>
            <a:off x="4663440" y="2057400"/>
            <a:ext cx="4023360" cy="749808"/>
          </a:xfrm>
          <a:prstGeom prst="roundRect">
            <a:avLst>
              <a:gd name="adj" fmla="val 14634"/>
            </a:avLst>
          </a:prstGeom>
          <a:solidFill>
            <a:srgbClr val="12295C">
              <a:alpha val="75000"/>
            </a:srgbClr>
          </a:solidFill>
          <a:ln w="12700">
            <a:solidFill>
              <a:srgbClr val="2E4F9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800600" y="2148840"/>
            <a:ext cx="566928" cy="566928"/>
          </a:xfrm>
          <a:prstGeom prst="ellipse">
            <a:avLst/>
          </a:prstGeom>
          <a:solidFill>
            <a:srgbClr val="22D3EE">
              <a:alpha val="30000"/>
            </a:srgbClr>
          </a:solidFill>
          <a:ln w="19050">
            <a:solidFill>
              <a:srgbClr val="22D3EE"/>
            </a:solidFill>
            <a:prstDash val="solid"/>
          </a:ln>
        </p:spPr>
      </p:sp>
      <p:pic>
        <p:nvPicPr>
          <p:cNvPr id="12" name="Image 1" descr="FaSearch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8001" y="2296241"/>
            <a:ext cx="272125" cy="27212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532120" y="2057400"/>
            <a:ext cx="3063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Grad-CAM explainability for clinicians</a:t>
            </a:r>
            <a:endParaRPr lang="en-US" sz="1250" dirty="0"/>
          </a:p>
        </p:txBody>
      </p:sp>
      <p:sp>
        <p:nvSpPr>
          <p:cNvPr id="14" name="Card"/>
          <p:cNvSpPr/>
          <p:nvPr/>
        </p:nvSpPr>
        <p:spPr>
          <a:xfrm>
            <a:off x="4663440" y="2926080"/>
            <a:ext cx="4023360" cy="749808"/>
          </a:xfrm>
          <a:prstGeom prst="roundRect">
            <a:avLst>
              <a:gd name="adj" fmla="val 14634"/>
            </a:avLst>
          </a:prstGeom>
          <a:solidFill>
            <a:srgbClr val="12295C">
              <a:alpha val="75000"/>
            </a:srgbClr>
          </a:solidFill>
          <a:ln w="12700">
            <a:solidFill>
              <a:srgbClr val="2E4F97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4800600" y="3017520"/>
            <a:ext cx="566928" cy="566928"/>
          </a:xfrm>
          <a:prstGeom prst="ellipse">
            <a:avLst/>
          </a:prstGeom>
          <a:solidFill>
            <a:srgbClr val="34D399">
              <a:alpha val="30000"/>
            </a:srgbClr>
          </a:solidFill>
          <a:ln w="19050">
            <a:solidFill>
              <a:srgbClr val="34D399"/>
            </a:solidFill>
            <a:prstDash val="solid"/>
          </a:ln>
        </p:spPr>
      </p:sp>
      <p:pic>
        <p:nvPicPr>
          <p:cNvPr id="16" name="Image 2" descr="FaMobileAl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8001" y="3164921"/>
            <a:ext cx="272125" cy="272125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5532120" y="2926080"/>
            <a:ext cx="3063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Web and mobile screening app</a:t>
            </a:r>
            <a:endParaRPr lang="en-US" sz="1250" dirty="0"/>
          </a:p>
        </p:txBody>
      </p:sp>
      <p:sp>
        <p:nvSpPr>
          <p:cNvPr id="18" name="Card"/>
          <p:cNvSpPr/>
          <p:nvPr/>
        </p:nvSpPr>
        <p:spPr>
          <a:xfrm>
            <a:off x="4663440" y="3794760"/>
            <a:ext cx="4023360" cy="749808"/>
          </a:xfrm>
          <a:prstGeom prst="roundRect">
            <a:avLst>
              <a:gd name="adj" fmla="val 14634"/>
            </a:avLst>
          </a:prstGeom>
          <a:solidFill>
            <a:srgbClr val="12295C">
              <a:alpha val="75000"/>
            </a:srgbClr>
          </a:solidFill>
          <a:ln w="12700">
            <a:solidFill>
              <a:srgbClr val="2E4F97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4800600" y="3886200"/>
            <a:ext cx="566928" cy="566928"/>
          </a:xfrm>
          <a:prstGeom prst="ellipse">
            <a:avLst/>
          </a:prstGeom>
          <a:solidFill>
            <a:srgbClr val="F59E0B">
              <a:alpha val="30000"/>
            </a:srgbClr>
          </a:solidFill>
          <a:ln w="19050">
            <a:solidFill>
              <a:srgbClr val="F59E0B"/>
            </a:solidFill>
            <a:prstDash val="solid"/>
          </a:ln>
        </p:spPr>
      </p:sp>
      <p:pic>
        <p:nvPicPr>
          <p:cNvPr id="20" name="Image 3" descr="FaBol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48001" y="4033601"/>
            <a:ext cx="272125" cy="272125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532120" y="3794760"/>
            <a:ext cx="3063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Improve spiral recall with tuning</a:t>
            </a:r>
            <a:endParaRPr lang="en-US" sz="1250" dirty="0"/>
          </a:p>
        </p:txBody>
      </p:sp>
      <p:sp>
        <p:nvSpPr>
          <p:cNvPr id="22" name="Text 16"/>
          <p:cNvSpPr txBox="1"/>
          <p:nvPr/>
        </p:nvSpPr>
        <p:spPr>
          <a:xfrm>
            <a:off x="4663440" y="93268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18CF8"/>
                </a:solidFill>
              </a:rPr>
              <a:t>FUTURE SCOPE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FB0F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lowing wave">    </p:cNvPr>
          <p:cNvPicPr>
            <a:picLocks noChangeAspect="1"/>
          </p:cNvPicPr>
          <p:nvPr/>
        </p:nvPicPr>
        <p:blipFill>
          <a:blip r:embed="rId1">
            <a:alphaModFix amt="45000"/>
          </a:blip>
          <a:stretch>
            <a:fillRect/>
          </a:stretch>
        </p:blipFill>
        <p:spPr>
          <a:xfrm>
            <a:off x="0" y="3063240"/>
            <a:ext cx="9144000" cy="3264408"/>
          </a:xfrm>
          <a:prstGeom prst="rect">
            <a:avLst/>
          </a:prstGeom>
        </p:spPr>
      </p:pic>
      <p:pic>
        <p:nvPicPr>
          <p:cNvPr id="3" name="Image 1" descr="Spiral">    </p:cNvPr>
          <p:cNvPicPr>
            <a:picLocks noChangeAspect="1"/>
          </p:cNvPicPr>
          <p:nvPr/>
        </p:nvPicPr>
        <p:blipFill>
          <a:blip r:embed="rId2">
            <a:alphaModFix amt="40000"/>
          </a:blip>
          <a:stretch>
            <a:fillRect/>
          </a:stretch>
        </p:blipFill>
        <p:spPr>
          <a:xfrm>
            <a:off x="-1188720" y="-1097280"/>
            <a:ext cx="3291840" cy="329184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457200" y="77724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spc="6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5" name="Shape 1"/>
          <p:cNvSpPr/>
          <p:nvPr/>
        </p:nvSpPr>
        <p:spPr>
          <a:xfrm>
            <a:off x="3840480" y="1810512"/>
            <a:ext cx="1463040" cy="457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457200" y="1920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FD4FF"/>
                </a:solidFill>
              </a:rPr>
              <a:t>Questions and feedback are welcome</a:t>
            </a:r>
            <a:endParaRPr lang="en-US" sz="1500" dirty="0"/>
          </a:p>
        </p:txBody>
      </p:sp>
      <p:sp>
        <p:nvSpPr>
          <p:cNvPr id="7" name="Card"/>
          <p:cNvSpPr/>
          <p:nvPr/>
        </p:nvSpPr>
        <p:spPr>
          <a:xfrm>
            <a:off x="2514600" y="2468880"/>
            <a:ext cx="4114800" cy="1737360"/>
          </a:xfrm>
          <a:prstGeom prst="roundRect">
            <a:avLst>
              <a:gd name="adj" fmla="val 6316"/>
            </a:avLst>
          </a:prstGeom>
          <a:solidFill>
            <a:srgbClr val="12295C">
              <a:alpha val="90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2514600" y="254203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BFD4FF"/>
                </a:solidFill>
              </a:rPr>
              <a:t>With regards, presented by</a:t>
            </a:r>
            <a:endParaRPr lang="en-US" sz="1200" dirty="0"/>
          </a:p>
        </p:txBody>
      </p:sp>
      <p:sp>
        <p:nvSpPr>
          <p:cNvPr id="9" name="Text 5"/>
          <p:cNvSpPr txBox="1"/>
          <p:nvPr/>
        </p:nvSpPr>
        <p:spPr>
          <a:xfrm>
            <a:off x="2514600" y="285292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spc="200" kern="0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TEAM: MAX EFFORT</a:t>
            </a:r>
            <a:endParaRPr lang="en-US" sz="2200" dirty="0"/>
          </a:p>
        </p:txBody>
      </p:sp>
      <p:sp>
        <p:nvSpPr>
          <p:cNvPr id="10" name="Text 6"/>
          <p:cNvSpPr txBox="1"/>
          <p:nvPr/>
        </p:nvSpPr>
        <p:spPr>
          <a:xfrm>
            <a:off x="2514600" y="33832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TS SHARAN • 25BCA7670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2514600" y="37033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SJ VISWAK • 25BCE7873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idnight Neuro">
  <a:themeElements>
    <a:clrScheme name="Midnight Neuro">
      <a:dk1>
        <a:srgbClr val="FFFFFF"/>
      </a:dk1>
      <a:lt1>
        <a:srgbClr val="0A1530"/>
      </a:lt1>
      <a:dk2>
        <a:srgbClr val="BFD4FF"/>
      </a:dk2>
      <a:lt2>
        <a:srgbClr val="12295C"/>
      </a:lt2>
      <a:accent1>
        <a:srgbClr val="38BDF8"/>
      </a:accent1>
      <a:accent2>
        <a:srgbClr val="818CF8"/>
      </a:accent2>
      <a:accent3>
        <a:srgbClr val="22D3EE"/>
      </a:accent3>
      <a:accent4>
        <a:srgbClr val="34D399"/>
      </a:accent4>
      <a:accent5>
        <a:srgbClr val="F59E0B"/>
      </a:accent5>
      <a:accent6>
        <a:srgbClr val="F472B6"/>
      </a:accent6>
      <a:hlink>
        <a:srgbClr val="38BDF8"/>
      </a:hlink>
      <a:folHlink>
        <a:srgbClr val="818CF8"/>
      </a:folHlink>
    </a:clrScheme>
    <a:fontScheme name="Midnight Neuro">
      <a:majorFont>
        <a:latin typeface="Trebuchet M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Parkinson's Disease Detection</dc:title>
  <dc:subject>PptxGenJS Presentation</dc:subject>
  <dc:creator>Team MAX EFFORT</dc:creator>
  <cp:lastModifiedBy>Team MAX EFFORT</cp:lastModifiedBy>
  <cp:revision>1</cp:revision>
  <dcterms:created xsi:type="dcterms:W3CDTF">2026-10-17T10:39:29Z</dcterms:created>
  <dcterms:modified xsi:type="dcterms:W3CDTF">2026-10-17T10:39:29Z</dcterms:modified>
</cp:coreProperties>
</file>